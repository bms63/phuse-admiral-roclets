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1" Type="http://schemas.openxmlformats.org/officeDocument/2006/relationships/viewProps" Target="viewProps.xml" /><Relationship Id="rId1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3" Type="http://schemas.openxmlformats.org/officeDocument/2006/relationships/tableStyles" Target="tableStyles.xml" /><Relationship Id="rId1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r-pkgs.org/" TargetMode="Externa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roxygen2.r-lib.org/" TargetMode="Externa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Time to Roclet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admiral’s use of custom roclets to enhance and extend examples in function documentation.</a:t>
            </a:r>
            <a:br/>
            <a:br/>
            <a:r>
              <a:rPr/>
              <a:t>Ben Straub (GSK, Philadelphia, United States)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Required xkcd comic</a:t>
            </a:r>
          </a:p>
        </p:txBody>
      </p:sp>
      <p:pic>
        <p:nvPicPr>
          <p:cNvPr descr="images/rtfm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04900" y="1193800"/>
            <a:ext cx="2730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Do you read the manual first? Show of Hands</a:t>
            </a:r>
          </a:p>
          <a:p>
            <a:pPr lvl="0"/>
            <a:r>
              <a:rPr/>
              <a:t>Do you just dive in and read the manual afterwards? Show of Hands</a:t>
            </a:r>
          </a:p>
          <a:p>
            <a:pPr lvl="0"/>
            <a:r>
              <a:rPr/>
              <a:t>I am a dive in and then read the manual later.</a:t>
            </a:r>
            <a:br/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next 20 minutes…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Brief intro to the problem. Hint: documentation</a:t>
            </a:r>
          </a:p>
          <a:p>
            <a:pPr lvl="0"/>
            <a:r>
              <a:rPr/>
              <a:t>Infrastructure behind R package documentation</a:t>
            </a:r>
          </a:p>
          <a:p>
            <a:pPr lvl="0"/>
            <a:r>
              <a:rPr/>
              <a:t>admiral R package and its documentation</a:t>
            </a:r>
          </a:p>
          <a:p>
            <a:pPr lvl="0"/>
            <a:r>
              <a:rPr/>
              <a:t>How admiral extended roxygen2 abilities to solve its problem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 at the end of 20 minutes…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 hope you walk away with:</a:t>
            </a:r>
          </a:p>
          <a:p>
            <a:pPr lvl="0"/>
            <a:r>
              <a:rPr/>
              <a:t>How R documentation is created.</a:t>
            </a:r>
          </a:p>
          <a:p>
            <a:pPr lvl="0"/>
            <a:r>
              <a:rPr/>
              <a:t>How admiral enhanced its documentation to help its users.</a:t>
            </a:r>
          </a:p>
          <a:p>
            <a:pPr lvl="0"/>
            <a:r>
              <a:rPr/>
              <a:t>Better documentation means users are happy but also also AI/LLMs to easier understand and harvest information from your R package.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Introduction: The Challenge of R Package Documentation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Detailed argument definitions and inline examples aid understanding complex functions.</a:t>
            </a:r>
          </a:p>
          <a:p>
            <a:pPr lvl="0"/>
            <a:r>
              <a:rPr/>
              <a:t>In </a:t>
            </a:r>
            <a:r>
              <a:rPr>
                <a:latin typeface="Courier"/>
              </a:rPr>
              <a:t>admiral</a:t>
            </a:r>
            <a:r>
              <a:rPr/>
              <a:t>, top-notch documentation is a priority.</a:t>
            </a:r>
          </a:p>
          <a:p>
            <a:pPr lvl="0"/>
            <a:r>
              <a:rPr b="1"/>
              <a:t>Problem</a:t>
            </a:r>
            <a:r>
              <a:rPr/>
              <a:t>: As number of functions and complexity of functions grew, documentation became unwieldy and hard to navigate.</a:t>
            </a:r>
          </a:p>
          <a:p>
            <a:pPr lvl="0"/>
            <a:r>
              <a:rPr b="1"/>
              <a:t>Solution</a:t>
            </a:r>
            <a:r>
              <a:rPr/>
              <a:t>: Extended </a:t>
            </a:r>
            <a:r>
              <a:rPr>
                <a:latin typeface="Courier"/>
              </a:rPr>
              <a:t>roxygen</a:t>
            </a:r>
            <a:r>
              <a:rPr/>
              <a:t> package’s </a:t>
            </a:r>
            <a:r>
              <a:rPr>
                <a:latin typeface="Courier"/>
              </a:rPr>
              <a:t>roclets</a:t>
            </a:r>
            <a:r>
              <a:rPr/>
              <a:t> to better display and curate examples.</a:t>
            </a:r>
          </a:p>
          <a:p>
            <a:pPr lvl="0"/>
            <a:r>
              <a:rPr/>
              <a:t>This presentation explores the technical details and positive impact on </a:t>
            </a:r>
            <a:r>
              <a:rPr>
                <a:latin typeface="Courier"/>
              </a:rPr>
              <a:t>admiral</a:t>
            </a:r>
            <a:r>
              <a:rPr/>
              <a:t>’s function examples.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 Packages: The Foundation of the R Ecosystem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 packages bundle code, data, documentation, and tests in a standardized format.</a:t>
            </a:r>
          </a:p>
          <a:p>
            <a:pPr lvl="0"/>
            <a:r>
              <a:rPr/>
              <a:t>They facilitate code sharing and reuse, expanding R’s functionality.</a:t>
            </a:r>
          </a:p>
          <a:p>
            <a:pPr lvl="0"/>
            <a:r>
              <a:rPr b="1"/>
              <a:t>Key components</a:t>
            </a:r>
            <a:r>
              <a:rPr/>
              <a:t>:</a:t>
            </a:r>
          </a:p>
          <a:p>
            <a:pPr lvl="1"/>
            <a:r>
              <a:rPr/>
              <a:t>R functions in </a:t>
            </a:r>
            <a:r>
              <a:rPr>
                <a:latin typeface="Courier"/>
              </a:rPr>
              <a:t>R/</a:t>
            </a:r>
            <a:r>
              <a:rPr/>
              <a:t> directory. Documentation in </a:t>
            </a:r>
            <a:r>
              <a:rPr>
                <a:latin typeface="Courier"/>
              </a:rPr>
              <a:t>man/</a:t>
            </a:r>
          </a:p>
          <a:p>
            <a:pPr lvl="1"/>
            <a:r>
              <a:rPr/>
              <a:t>Documentation using </a:t>
            </a:r>
            <a:r>
              <a:rPr>
                <a:latin typeface="Courier"/>
              </a:rPr>
              <a:t>roxygen2</a:t>
            </a:r>
            <a:r>
              <a:rPr/>
              <a:t> comments in </a:t>
            </a:r>
            <a:r>
              <a:rPr>
                <a:latin typeface="Courier"/>
              </a:rPr>
              <a:t>.R</a:t>
            </a:r>
            <a:r>
              <a:rPr/>
              <a:t> prodce the </a:t>
            </a:r>
            <a:r>
              <a:rPr>
                <a:latin typeface="Courier"/>
              </a:rPr>
              <a:t>.Rd</a:t>
            </a:r>
            <a:r>
              <a:rPr/>
              <a:t> files.</a:t>
            </a:r>
          </a:p>
          <a:p>
            <a:pPr lvl="1"/>
            <a:r>
              <a:rPr/>
              <a:t>Dependencies in </a:t>
            </a:r>
            <a:r>
              <a:rPr>
                <a:latin typeface="Courier"/>
              </a:rPr>
              <a:t>DESCRIPTION</a:t>
            </a:r>
            <a:r>
              <a:rPr/>
              <a:t> file.</a:t>
            </a:r>
          </a:p>
          <a:p>
            <a:pPr lvl="1"/>
            <a:r>
              <a:rPr/>
              <a:t>Few other folders and needed files - Check out: </a:t>
            </a:r>
            <a:r>
              <a:rPr>
                <a:hlinkClick r:id="rId2"/>
              </a:rPr>
              <a:t>https://r-pkgs.org/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roxygen2: Streamlining R Docs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The </a:t>
            </a:r>
            <a:r>
              <a:rPr>
                <a:latin typeface="Courier"/>
              </a:rPr>
              <a:t>roxygen2</a:t>
            </a:r>
            <a:r>
              <a:rPr/>
              <a:t> R package simplifies documentation within R packages.</a:t>
            </a:r>
          </a:p>
          <a:p>
            <a:pPr lvl="0"/>
            <a:r>
              <a:rPr/>
              <a:t>Developers write documentation directly alongside function definitions using </a:t>
            </a:r>
            <a:r>
              <a:rPr>
                <a:latin typeface="Courier"/>
              </a:rPr>
              <a:t>#'</a:t>
            </a:r>
            <a:r>
              <a:rPr/>
              <a:t> comments.</a:t>
            </a:r>
          </a:p>
          <a:p>
            <a:pPr lvl="0"/>
            <a:r>
              <a:rPr b="1"/>
              <a:t>Benefits</a:t>
            </a:r>
            <a:r>
              <a:rPr/>
              <a:t>:</a:t>
            </a:r>
          </a:p>
          <a:p>
            <a:pPr lvl="1"/>
            <a:r>
              <a:rPr/>
              <a:t>Keeps code and documentation co-located, making updates efficient.</a:t>
            </a:r>
          </a:p>
          <a:p>
            <a:pPr lvl="1"/>
            <a:r>
              <a:rPr/>
              <a:t>Automatically generates </a:t>
            </a:r>
            <a:r>
              <a:rPr>
                <a:latin typeface="Courier"/>
              </a:rPr>
              <a:t>.Rd</a:t>
            </a:r>
            <a:r>
              <a:rPr/>
              <a:t> files (standard R documentation) from comments.</a:t>
            </a:r>
          </a:p>
          <a:p>
            <a:pPr lvl="0"/>
            <a:r>
              <a:rPr/>
              <a:t>This system significantly reduces effort, enhancing user understanding of functions.</a:t>
            </a:r>
          </a:p>
          <a:p>
            <a:pPr lvl="0"/>
            <a:r>
              <a:rPr/>
              <a:t>Check out: </a:t>
            </a:r>
            <a:r>
              <a:rPr>
                <a:hlinkClick r:id="rId2"/>
              </a:rPr>
              <a:t>https://roxygen2.r-lib.org/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Roxygen in an </a:t>
            </a:r>
            <a:r>
              <a:rPr>
                <a:latin typeface="Courier"/>
              </a:rPr>
              <a:t>.R</a:t>
            </a:r>
            <a:r>
              <a:rPr/>
              <a:t>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Here’s a brief example of a function </a:t>
            </a:r>
            <a:r>
              <a:rPr>
                <a:latin typeface="Courier"/>
              </a:rPr>
              <a:t>add_numbers()</a:t>
            </a:r>
            <a:r>
              <a:rPr/>
              <a:t> with its roxygen documentation:</a:t>
            </a:r>
          </a:p>
          <a:p>
            <a:pPr lvl="0" indent="0" marL="0">
              <a:buNone/>
            </a:pPr>
            <a:r>
              <a:rPr/>
              <a:t>#| echo: TRUE #| code-line-numbers: “1-13|1|2|3|4|5|6|7|8|9|10|11-13” #’ Add two numbers together. #’ #’ This function takes two numeric inputs and returns their sum. #’ #’ @param x A numeric value, the first number. #’ @param y A numeric value, the second number. #’ @return The sum of </a:t>
            </a:r>
            <a:r>
              <a:rPr>
                <a:latin typeface="Courier"/>
              </a:rPr>
              <a:t>x</a:t>
            </a:r>
            <a:r>
              <a:rPr/>
              <a:t> and </a:t>
            </a:r>
            <a:r>
              <a:rPr>
                <a:latin typeface="Courier"/>
              </a:rPr>
              <a:t>y</a:t>
            </a:r>
            <a:r>
              <a:rPr/>
              <a:t>. #’ @examples #’ add_numbers(5, 3) #’ add_numbers(10, -2) add_numbers &lt;- function(x, y) { x + y }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 to Roclet</dc:title>
  <dc:creator>Ben Straub (GSK, Philadelphia, United States)</dc:creator>
  <cp:keywords/>
  <dcterms:created xsi:type="dcterms:W3CDTF">2026-03-21T17:56:36Z</dcterms:created>
  <dcterms:modified xsi:type="dcterms:W3CDTF">2026-03-21T17:56:36Z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ditor">
    <vt:lpwstr>source</vt:lpwstr>
  </property>
  <property fmtid="{D5CDD505-2E9C-101B-9397-08002B2CF9AE}" pid="6" name="engines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subtitle">
    <vt:lpwstr>admiral’s use of custom roclets to enhance and extend examples in function documentation.</vt:lpwstr>
  </property>
  <property fmtid="{D5CDD505-2E9C-101B-9397-08002B2CF9AE}" pid="12" name="toc-title">
    <vt:lpwstr>Table of contents</vt:lpwstr>
  </property>
</Properties>
</file>